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9B7C2"/>
                </a:solidFill>
                <a:latin typeface="Calibri"/>
              </a:rPr>
              <a:t>SELENA SYSTEMS · BALI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Georgia"/>
              </a:rPr>
              <a:t>Anjuna Surf &amp; Sunset Villas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D8C9A8"/>
                </a:solidFill>
                <a:latin typeface="Georgia"/>
              </a:rPr>
              <a:t>Full Analysis &amp; Go-To-Market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C4C2"/>
                </a:solidFill>
                <a:latin typeface="Calibri"/>
              </a:rPr>
              <a:t>Why bookings underperform · the competitive field · what Uluwatu guests actually want ·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C4C2"/>
                </a:solidFill>
                <a:latin typeface="Calibri"/>
              </a:rPr>
              <a:t>the corrected commercial plan (GTM v2, adversarially reviewed) · takeover due diligence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A74"/>
                </a:solidFill>
                <a:latin typeface="Calibri"/>
              </a:rPr>
              <a:t>Public data only · estimates labelled · independent — not affiliated with Anjuna Bay or Balinest Villas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The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The property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Anjuna Surf &amp; Sunset Villas — brand-new cliffside pool villas at Thomas Beach, Uluwatu (Pecatu). Part of the ~69-unit Anjuna Bay estate (Aurora 32 · Palms 15 · Urbana 22).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The situation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Villas are rented through the current operator, Balinest Villas (~207-listing manager, Guesty stack). The owner is dissatisfied: too few bookings, too little money.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The question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How does the current operator sell? What works, what fails, why are bookings few — and what should a new management setup do differently?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Candidate operator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Fadjri D. Roesman, cSMH — 30+ yrs hotel leadership (GM Lombok Astoria; ex-Westin Nusa Dua, Le Méridien, Mandarin Oriental, The Sultan).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This deck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Everything found, verified, corrected — and the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4"/>
                </a:solidFill>
                <a:latin typeface="Calibri"/>
              </a:rPr>
              <a:t>Sources: sales_analysis.md · metrics_summary.md · comp_set.md · voice_of_traveler.md · gtm_strategy.md (v2)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How we worked — and the honesty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Public data only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OTA listings, analytics tools (airbtics/AirROI), project portals, forums — the owner's internal numbers stay in due diligence.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Hard limit, stated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Bali OTA/analytics sites 403-block robots; figures come from search-index snippets. Every number carries a source tag; estimates are labelled.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Adversarial verification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Root-cause hypotheses were attacked by independent verifier agents before we kept them (CONFIRMED / PLAUSIBLE / REFUTED).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Self-review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The strategy itself was re-audited by two independent reviewer roles (performance marketing + revenue/CFO) — 30 findings, all critical fixes applied. The mistakes are shown in this deck, not hidden.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One test = a signal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Never proof. Occupancy claims remain unverified until the Guesty data room opens.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THE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Snapshot: what exists vs what is on the market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1991563"/>
                <a:gridCol w="2876702"/>
                <a:gridCol w="3761841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Units planned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 (Jul 2026)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Listed for rent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Surf &amp; Sunset (operating)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~25 villas (est. from unit codes)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Built, operating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~10–15 found live (A3, B1, B2, B3, B10, 2A1, 2A5, A14, A15 + aggregates)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Anjuna Aurora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32 villas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Made-to-order / off-plan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Anjuna Palms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15 townhouses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Due Jun 2026 — handover unverified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0 — no rental presence anywhere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Anjuna Urbana + pipeline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22 apartments (+38 units)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Dec 2026+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A74"/>
                </a:solidFill>
                <a:latin typeface="Calibri"/>
              </a:rPr>
              <a:t>Bookable inventory is a fraction of the estate. Even inside the finished cluster, completed villas appear unlisted — but many units are investor-owned: listing them requires handover, furnishing, a pondok wisata license and a signed owner mandate (verified in Week 0 of the plan).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4"/>
                </a:solidFill>
                <a:latin typeface="Calibri"/>
              </a:rPr>
              <a:t>Inventory census adversarially verified: exact live count is a search-based ~10–15, to confirm on the host profile / Guesty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9B7C2"/>
                </a:solidFill>
                <a:latin typeface="Calibri"/>
              </a:rPr>
              <a:t>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A top-tier product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trapped in a bottom-tier commercial wrapper.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9D2D0"/>
                </a:solidFill>
                <a:latin typeface="Calibri"/>
              </a:rPr>
              <a:t>Guests rate the villas 4.87–5.0 stars and praise the staff (Booking Staff 9.5).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9D2D0"/>
                </a:solidFill>
                <a:latin typeface="Calibri"/>
              </a:rPr>
              <a:t>But most of the estate isn't on the market, the nights that sell are priced 33–44% below the segment,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9D2D0"/>
                </a:solidFill>
                <a:latin typeface="Calibri"/>
              </a:rPr>
              <a:t>no one generates demand outside the OTA algorithms, and the listings sell unit codes instead of benefits.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Why bookings are few — four root causes, adversarially verified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"/>
                <a:gridCol w="4868265"/>
                <a:gridCol w="1659636"/>
                <a:gridCol w="3983126"/>
              </a:tblGrid>
              <a:tr h="67665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Inventory cap — only ~10–15 of ~69 units are listed; most pipeline unbuilt; completed villas sit unlisted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Channel census across 6 platforms; FazWaz/asia.villas statuses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Rate leakage — 2BR $144 non-refundable vs market median $216 / avg $267; RevPAR ≈ market average despite 5-star reviews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PLAUSIBLE (strong)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Rate snippets; AirROI 2026 benchmarks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No demand engine — marketing sells real estate &amp; owner acquisition, not stays; site tells guests to book on Airbnb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PLAUSIBLE (strong)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IG/site audit; SEO index ≈ 5 pages; no ads found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Fragmented review equity — proof split across 12+ listings; most units look new (4–13 reviews); Booking 8.7 below the 9.0 wall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PLAUSIBLE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Per-listing review census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43C"/>
                </a:solidFill>
                <a:latin typeface="Calibri"/>
              </a:rPr>
              <a:t>Bookings are few because there is little to book × sold cheap with rigid terms × nothing pushes demand × new listings start from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Rate leakage: cheap AND rigid — the worst combination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9494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652"/>
                <a:gridCol w="2640787"/>
              </a:tblGrid>
              <a:tr h="47026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Benchmark (AirROI 2026, Uluwatu)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Anjuna 2BR lead-in (verified)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$144 · non-refundable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Market median listing ADR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$216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Market average ADR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$267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2–3BR segment ADR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~$259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Top-quartile ADR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$313+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Market RevPAR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$130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Undercut from below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Ayora $117, Marghe $136 — with FREE cancellation.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Anjuna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cheap and non-refundable, no visible inclusions.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RevPAR ≈ $122/night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(if the operator's 85% claim holds) — mere parity with the average listing, with 5-star reviews.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1BR baseline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unverified ($66 = one low-confidence Agoda snippet).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4"/>
                </a:solidFill>
                <a:latin typeface="Calibri"/>
              </a:rPr>
              <a:t>Occupancy figures are not public for any competitor; Anjuna's ~85% is an operator claim — Guesty pull decides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CREDIT WHERE DUE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What the current operation does well — keep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On-ground service is a real asset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Booking Staff 9.5/10 · named host 'Budi' sends a welcome WhatsApp before arrival · reviews: 'responsive', 'available 24/7' · zero complaints about unreachability.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Top-tier ratings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Airbnb 4.87–5.0 per unit; B1 holds 86 reviews (deeper than almost every new-build rival); Superhost + Guest favorite.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Modern stack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One Guesty backend feeding Airbnb, Booking, Agoda, Trip.com/Ctrip and Marriott Homes &amp; Villas.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Rule for any new setup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Change the commercial wrapper — never the hospitality.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14 competitors — chosen by the search funnels guests actually use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702"/>
                <a:gridCol w="3540556"/>
                <a:gridCol w="4646980"/>
              </a:tblGrid>
              <a:tr h="6583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Funnel (how the guest meets them)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rivals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Decision driver vs Anjuna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 · Airbnb 'Uluwatu' grid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Hakuna Matata · Makai · Amaya/NOUR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240 reviews + inclusions in caps · $388 design flagship · Superhost 1BR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B · Airbnb 'Bingin'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Bingin Castaways · Zyloh · Young Villas · Palmera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129-review history · 'brand new luxury' titles · 24h concierge + perks network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C · Booking 'Pecatu' (Anjuna's own grid)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COZ 9.3–9.6 · Marghe $136 · Villa Yin · KELUK · Ayora $117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Beach walk-time IN THE NAME · undercut with free cancellation · 9.8 'Exceptional'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D · Google research-first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Uluwatu Surf Villas (TA 204) · Bukit Vista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Owned brand in every roundup · manager-optimized listings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A74"/>
                </a:solidFill>
                <a:latin typeface="Calibri"/>
              </a:rPr>
              <a:t>Ayora Villas is the doppelganger to watch: brand-new, architect-designed, multi-unit, own site — and $117 undercuts everyone (still thin on reviews: 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Where Anjuna stands on every public parameter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2655417"/>
                <a:gridCol w="3761841"/>
                <a:gridCol w="2655417"/>
              </a:tblGrid>
              <a:tr h="62483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Anjuna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 pack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Standing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Airbnb rating &amp; depth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4.87–5.0 · B1 86 reviews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Zyloh 4.89/106 · Castaways 4.89/129 · Ayora 4.88/88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TOP CLUSTER — a real moat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Booking.com score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8.7 / 59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Ayora 9.8 · COZ 9.3–9.6 · Young Villas 9.4 · Hakuna 9.1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WEAKEST of the scored set (below the 9.0 wall)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Price &amp; terms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$144 non-refundable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$117–500; rivals offer free cancellation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Cheap + rigid — worst combo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Direct booking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Guesty, 1 unit indexed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COZ/NOUR engines · Zyloh/Young/USV own sites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BEHIND the pack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Occupancy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~85% (operator claim)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Not public for anyone; market ~50–62%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UNVERIFIABLE from outside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Guest-appeal scorecard (v0, three evidenced blocks of seven)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839784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"/>
                <a:gridCol w="2549346"/>
                <a:gridCol w="1424635"/>
                <a:gridCol w="1424635"/>
                <a:gridCol w="1349654"/>
                <a:gridCol w="899769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Listing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Positioning /10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Social proof /10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Price &amp; value /10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/30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Hakuna Matata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COZ Bali Boutique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Uluwatu Surf Villas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Ayora Villas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ANJUNA (B1 / 2BR)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8288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72029"/>
                </a:solidFill>
                <a:latin typeface="Calibri"/>
              </a:rPr>
              <a:t>• Positioning 2/10</a:t>
            </a:r>
            <a:r>
              <a:rPr sz="1200" b="0">
                <a:solidFill>
                  <a:srgbClr val="5C6A74"/>
                </a:solidFill>
                <a:latin typeface="Calibri"/>
              </a:rPr>
              <a:t> — worst in set — unit codes ('B10', '2A5') vs benefit titles.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72029"/>
                </a:solidFill>
                <a:latin typeface="Calibri"/>
              </a:rPr>
              <a:t>• Social proof 7/10</a:t>
            </a:r>
            <a:r>
              <a:rPr sz="1200" b="0">
                <a:solidFill>
                  <a:srgbClr val="5C6A74"/>
                </a:solidFill>
                <a:latin typeface="Calibri"/>
              </a:rPr>
              <a:t> — hidden strength — held back only by the Booking 8.7.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72029"/>
                </a:solidFill>
                <a:latin typeface="Calibri"/>
              </a:rPr>
              <a:t>• Price 4/10</a:t>
            </a:r>
            <a:r>
              <a:rPr sz="1200" b="0">
                <a:solidFill>
                  <a:srgbClr val="5C6A74"/>
                </a:solidFill>
                <a:latin typeface="Calibri"/>
              </a:rPr>
              <a:t> — cheap without a story; rigid terms.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72029"/>
                </a:solidFill>
                <a:latin typeface="Calibri"/>
              </a:rPr>
              <a:t>• Preliminary</a:t>
            </a:r>
            <a:r>
              <a:rPr sz="1200" b="0">
                <a:solidFill>
                  <a:srgbClr val="5C6A74"/>
                </a:solidFill>
                <a:latin typeface="Calibri"/>
              </a:rPr>
              <a:t> — full /100 lands after the browser sweep on fixed 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4"/>
                </a:solidFill>
                <a:latin typeface="Calibri"/>
              </a:rPr>
              <a:t>Scores anchored to the best listing in the comp set; every score carries its evidence pair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Who comes to Uluwatu — and from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Surfers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own the identity (breaks since the 1970s).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Couples / honeymooners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own the volume — the most-repeated leisure framing.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Luxury travelers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large and growing (cliff villas, infinity pools).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Digital nomads &amp; wellness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the growth edge — but budget-capped (see GTM).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Party / families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minor for this zone.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Origins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Australia dominant (~25% of arrivals + surf heritage), then India, China, Korea, UK, France, US.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Nomads skew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Brazil / Portugal / Europe.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2024→26 shift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toward Asian markets, a rising Russian cohort — and longer villa stays over hotels (favors Anjuna's product).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4"/>
                </a:solidFill>
                <a:latin typeface="Calibri"/>
              </a:rPr>
              <a:t>Voice-of-traveler synthesis: forums/blogs/tourism data via search index — Reddit is blocked to tools; not verbatim Reddit (flagged)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The key demand finding: two journeys into Uluwatu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3C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828800"/>
            <a:ext cx="539496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3C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6B7A"/>
                </a:solidFill>
                <a:latin typeface="Calibri"/>
              </a:rPr>
              <a:t>LEISURE TOURISTS — Uluwatu is the FINALE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A74"/>
                </a:solidFill>
                <a:latin typeface="Calibri"/>
              </a:rPr>
              <a:t>Canggu/Seminyak (arrival, social) → Ubud (culture) → Uluwatu LAST — the scenic wind-down before the airport.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A74"/>
                </a:solidFill>
                <a:latin typeface="Calibri"/>
              </a:rPr>
              <a:t>Modal stay: 2–3 nights, with a strong 'should have done 4–5' tail. They don't flee crowds — they sequence Uluwatu at the 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E7C22"/>
                </a:solidFill>
                <a:latin typeface="Calibri"/>
              </a:rPr>
              <a:t>NOMADS &amp; SURFERS — the RELOCATION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A74"/>
                </a:solidFill>
                <a:latin typeface="Calibri"/>
              </a:rPr>
              <a:t>Nomads genuinely move from Canggu mid-stay ('left Canggu — too crowded') for a slower pace.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A74"/>
                </a:solidFill>
                <a:latin typeface="Calibri"/>
              </a:rPr>
              <a:t>Surfers and retreat guests base in Uluwatu start-to-finish, weeks to months. Spend: $30–65/day mid-band; Uluwatu runs ~15–20% pricier than Canggu.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1543C"/>
                </a:solidFill>
                <a:latin typeface="Calibri"/>
              </a:rPr>
              <a:t>Implication: be visible 2–6 months out (AU/EU booking windows) — exactly the Inspiration stage where Anjuna currently has zero owned presence.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What they love · what they complain about · the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Love #1–3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cliff &amp; sunset views · world-class breaks · beaches and hidden coves — Anjuna's exact product.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Then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quieter-than-Canggu calm · the temple &amp; Kecak · sunset beach clubs (Single Fin, Savaya, Sundays).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Cafes they name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Suka Espresso, Drifter, Cashew Tree, The Loft, Bukit Cafe.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Complaint #1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need a scooter — spread out, not walkable (very high recurrence).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Then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isolated listings 2–6 km from the beach · construction noise &amp; dust (2024–26 boom) · sunset-rush traffic · steep beach stairs · 'boujee' pricing · photos ≠ reality.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The warning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'Uluwatu is becoming the next Canggu' — its #1 differentiator (calm) is eroding. Anjuna's own construction is part of this story: disclose and manage it, don't hide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HOW GUESTS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The booking journey sets the weights for everything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7665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1923"/>
                <a:gridCol w="1894636"/>
              </a:tblGrid>
              <a:tr h="4457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Decision factor (Stage 4: comparison of 5–20 villas)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Review score &amp; depth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20 / 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Price &amp; value display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20 / 100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20 / 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Location &amp; walk-times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12 / 100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Amenities (wifi, pool, transfer…)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12 / 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Cancellation policy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8 / 100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Brand / positioning / discoverability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8 / 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8288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Stage 1 (30–180d out)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Instagram/TikTok/Google — Anjuna absent.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Stage 3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OTAs + Google Hotels + direct site — gaps: Expedia/Vrbo, Traveloka, Google surface.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72029"/>
                </a:solidFill>
                <a:latin typeface="Calibri"/>
              </a:rPr>
              <a:t>• Stage 6</a:t>
            </a:r>
            <a:r>
              <a:rPr sz="1250" b="0">
                <a:solidFill>
                  <a:srgbClr val="5C6A74"/>
                </a:solidFill>
                <a:latin typeface="Calibri"/>
              </a:rPr>
              <a:t> — pre-arrival WhatsApp is the Uluwatu norm — the response layer's home.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1543C"/>
                </a:solidFill>
                <a:latin typeface="Georgia"/>
              </a:rPr>
              <a:t>Mistakes we caught in our own work — and fixed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6980"/>
                <a:gridCol w="2212848"/>
                <a:gridCol w="4204411"/>
              </a:tblGrid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we got wrong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was caught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 fix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'~9 of 69 units — CONFIRMED' — false precision from search-only census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User challenge + re-check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Softened to '~10–15 found publicly; exact count needs host profile / Guesty'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'1BR $66' over-anchored (one low-confidence Agoda snippet; cross-attribution risk)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Adversarial review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Baseline marked unverified; ladder conditioned on Week-0 Guesty pull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Two contradictory rate cards in one strategy ($200–300 vs $110–140)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Adversarial review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Single rate card; segment table references 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'Consolidate review equity' would have DESTROYED B1's 86 reviews (IDs are welded)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Revenue review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Rename in place · host-profile halo · Booking room-types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'Direct must be best price' = parity violation; GBP assumed (often ineligible); nomad segment failed its own budget math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Marketing + CFO reviews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Member rates/perks · GBP conditional, GVR-via-Guesty · nomads demoted to organic low-season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No photography, tracking, budgets, KPIs or lag warning in the plan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Both reviews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All added in v2 (30 findings applied)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4"/>
                </a:solidFill>
                <a:latin typeface="Calibri"/>
              </a:rPr>
              <a:t>Every claim in this deck survived (or was corrected by) adversarial review — that is the quality bar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9B7C2"/>
                </a:solidFill>
                <a:latin typeface="Calibri"/>
              </a:rPr>
              <a:t>GO-TO-MARKET · v2 (ADVERSARIALLY REVIEWED)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Georgia"/>
              </a:rPr>
              <a:t>“Brand-new cliffside pool villas, a short walk from Thomas Beach —</a:t>
            </a:r>
          </a:p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Georgia"/>
              </a:rPr>
              <a:t>the view, the pool and the privacy people come to Uluwatu for,</a:t>
            </a:r>
          </a:p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Georgia"/>
              </a:rPr>
              <a:t>without the Canggu crowds.”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D2D0"/>
                </a:solidFill>
                <a:latin typeface="Calibri"/>
              </a:rPr>
              <a:t>For couples/honeymooners + premium surf travelers first. Travelers' top-3 loves ARE this product — today it's sold as unit 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8B89F"/>
                </a:solidFill>
                <a:latin typeface="Calibri"/>
              </a:rPr>
              <a:t>Honesty guardrail: construction &amp; nightlife are audible and documented.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E8B89F"/>
                </a:solidFill>
                <a:latin typeface="Calibri"/>
              </a:rPr>
              <a:t>Disclosure ships in Week 1 — before any price move, and inside ad creative.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STEP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Week 0 preconditions — the clock starts at signing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Brand license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'Anjuna Bay' belongs to the developer — written naming rights before any site, ads or handles.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Guesty data pull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real ADR &amp; occupancy per unit. No final price ladder before real rates. (Public 1BR baseline is unverified.)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Per-unit inventory audit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villas are investor-owned: handover ✓ furnished ✓ pondok wisata license ✓ signed owner mandate ✓. Forecast on confirmed-mandate units only.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029"/>
                </a:solidFill>
                <a:latin typeface="Calibri"/>
              </a:rPr>
              <a:t>• Web-estate clarity</a:t>
            </a:r>
            <a:r>
              <a:rPr sz="1500" b="0">
                <a:solidFill>
                  <a:srgbClr val="5C6A74"/>
                </a:solidFill>
                <a:latin typeface="Calibri"/>
              </a:rPr>
              <a:t> — developer site ≠ operator's Guesty page ≠ the NEW guest site — every task names which it touches.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One rate card — rolled out like a revenue manager, not a switch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3584448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 ladder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1BR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$110–140 (after Guesty verify)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2BR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$190–240 base · $280+ peak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3BR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$280–350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$300+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9"/>
                          </a:solidFill>
                          <a:latin typeface="Calibri"/>
                        </a:rPr>
                        <a:t>milestone: Booking &gt;9.0 + construction end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Disclosure first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honest construction/nightlife copy before any increase.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Stepped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+15–20% per 4–6-week cycle, watched on 30-day pickup pace.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Season- &amp; unit-gated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peak dates first; quiet units first; noise-exposed units keep a disclosed 'construction rate'.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Grandfather + rollback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existing bookings honored; pickup −15% vs LY pauses the ladder.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Free-cancellation rate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added alongside non-refundable (rivals win on flexibility).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Dynamic pricing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~$20/listing/mo. Vendor benchmarks labelled as claims, not proof.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Projection as sensitivity, not promise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72"/>
                <a:gridCol w="1316736"/>
                <a:gridCol w="1316736"/>
                <a:gridCol w="1316736"/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RevPAR / available night (est.)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Occ 55%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Occ 70%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Occ 85%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ADR +20% ($173)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$95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$121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$147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ADR +40% ($202)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$111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$141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29"/>
                          </a:solidFill>
                          <a:latin typeface="Calibri"/>
                        </a:rPr>
                        <a:t>$172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The base (~$122) rests on the operator's UNVERIFIED 85% claim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the Guesty pull decides which column is real.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If true occupancy is near market (~50%)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the problem is demand, not rate — sequencing shifts to distribution &amp; brand first.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72029"/>
                </a:solidFill>
                <a:latin typeface="Calibri"/>
              </a:rPr>
              <a:t>• Floor rule</a:t>
            </a:r>
            <a:r>
              <a:rPr sz="1400" b="0">
                <a:solidFill>
                  <a:srgbClr val="5C6A74"/>
                </a:solidFill>
                <a:latin typeface="Calibri"/>
              </a:rPr>
              <a:t> — occupancy below the agreed floor pauses the ladder automatically.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Site, Google, ads — corrected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New direct site (brand-licensed)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Guesty engine, page per villa, WhatsApp button. Direct economics stated NET: ~5–10% year-one after processing + perk + acquisition — the real prize is the guest database, repeat stays and parity leverage.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Rate parity — compliant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public rates at parity (Booking/Agoda clauses bind in Indonesia); direct wins via closed member rates + perks + repeat codes. Week 1: kill the 'book on Airbnb for best rates' message.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Google Business Profile — conditional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unstaffed vacation rentals are often ineligible; verify staffed reception first. Map path otherwise = Google Vacation Rentals feed via Guesty (engine live + 8 photos + ~3-week approval) — upside, not a pillar.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Google Ads — capped &amp; gated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brand: exact match [anjuna bay villa]/[anjuna bay uluwatu], negatives goa/india/anjunabeats, geo-exclude India, cap $100–200/mo. Generic 'uluwatu private pool villa' only after tracking is live.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Measurement is a hard gate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GA4 + Guesty purchase event, Meta pixel + CAPI, UTM schema, WhatsApp click tracking — BEFORE any spend. Retargeting from month 3+ (audience ≈ 0 until then).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72029"/>
                </a:solidFill>
                <a:latin typeface="Calibri"/>
              </a:rPr>
              <a:t>• Photography Weeks 1–3</a:t>
            </a:r>
            <a:r>
              <a:rPr sz="1300" b="0">
                <a:solidFill>
                  <a:srgbClr val="5C6A74"/>
                </a:solidFill>
                <a:latin typeface="Calibri"/>
              </a:rPr>
              <a:t> — pro photo + drone + vertical video (~$1–2k) before renaming, repricing and ads — photos carry 20/100 of the decision.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Three segments — corrected after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1991563"/>
                <a:gridCol w="3097987"/>
                <a:gridCol w="3319272"/>
              </a:tblGrid>
              <a:tr h="8458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Countries (paid)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Couples / honeymoon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AU → UK/DE/FR → 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Meta/IG · 'romantic' OTA copy · honeymoon roundups · direct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Ladder rates (2BR peak-weighted) · free-cancel · direct member rate + perk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Premium surf stay (was 'value surfers')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AU → US/EU · Brazil organic-only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Surf resellers (Perfect Wave-class) · surf schools · IG surf content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FULL ladder + 10–15% weekly discount for 7+ nights (length-of-stay, not a rate cut)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Low-season long-stay (nomads demoted — budget math failed)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organic only · zero paid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nomads.com listing · coworking partners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29"/>
                          </a:solidFill>
                          <a:latin typeface="Calibri"/>
                        </a:rPr>
                        <a:t>Monthly rate ONLY in Jan–Mar/Nov troughs · affluent remote couples, not the $1.5k/mo median · verify fiber first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A74"/>
                </a:solidFill>
                <a:latin typeface="Calibri"/>
              </a:rPr>
              <a:t>Why nomads were demoted: their all-in Uluwatu budget is ~$1,200–1,800/mo — a month at ladder rates exceeds it. Paying to acquire a segment that can't afford the product contradicted the repricing thesis.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BUDGET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What it costs, how it's judged — and the lag warning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667511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1468526"/>
                <a:gridCol w="1869033"/>
              </a:tblGrid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Payback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Renaming · parity · disclosure · cancel-rate · repricing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≈ $0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weeks — self-funding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Photo/video shoot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$1–2k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feeds everything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Direct site build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$2–5k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with member program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Google Ads (brand cap + generic)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$600–1,700/mo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CPA ≤ $30–45 displaced commission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Meta/TikTok prospecting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$1–2k/mo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Q+2 (lag)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Dynamic pricing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~$20/listing/mo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first repriced peak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78308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72029"/>
                </a:solidFill>
                <a:latin typeface="Calibri"/>
              </a:rPr>
              <a:t>KPIs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72029"/>
                </a:solidFill>
                <a:latin typeface="Calibri"/>
              </a:rPr>
              <a:t>direct share % · RevPAR index vs market · ADR by unit · 30-day pickup pace · CPA per booked night · Booking 8.7 → 9.0+ · review velocity · engine CVR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977639"/>
            <a:ext cx="4114800" cy="1920240"/>
          </a:xfrm>
          <a:prstGeom prst="rect">
            <a:avLst/>
          </a:prstGeom>
          <a:solidFill>
            <a:srgbClr val="F4E7D2"/>
          </a:solidFill>
          <a:ln>
            <a:solidFill>
              <a:srgbClr val="BE7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41148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5514"/>
                </a:solidFill>
                <a:latin typeface="Calibri"/>
              </a:rPr>
              <a:t>RESULTS LAG — SAY IT OUT LOUD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5514"/>
                </a:solidFill>
                <a:latin typeface="Calibri"/>
              </a:rPr>
              <a:t>Guests book 60–180 days out: month-1 spend = stays in months 3–7. Days 0–90 are judged on leading indicators; realized revenue reads at days 90–270.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GTM ·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90 days from signing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9515246"/>
              </a:tblGrid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Week 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Preconditions: brand license · Guesty pull · unit audit (mandates/licenses) · web-estate access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Weeks 1–2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Disclosure copy · kill 'Airbnb best rate' message · rename listings in place · photography · TRACKING STACK (hard gate) · align public rates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Weeks 2–4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Reprice phase 1 (quiet units, peak dates) · free-cancel rate · direct-site build · GVR prerequisites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Weeks 4–6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Brand ads (capped/exact/negatives) · member-rate program · GVR submission · first-10-reviews push for new units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Weeks 6–12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29"/>
                          </a:solidFill>
                          <a:latin typeface="Calibri"/>
                        </a:rPr>
                        <a:t>Paid social prospecting (AU couples + premium surf) · content SEO · channel expansion (Vrbo/Expedia, Traveloka low-season, TripAdvisor, luxury agencies) · response layer + weekly owner report · reprice phase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457200" cy="64008"/>
          </a:xfrm>
          <a:prstGeom prst="rect">
            <a:avLst/>
          </a:prstGeom>
          <a:solidFill>
            <a:srgbClr val="0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6B7A"/>
                </a:solidFill>
                <a:latin typeface="Calibri"/>
              </a:rPr>
              <a:t>TAKEOVER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029"/>
                </a:solidFill>
                <a:latin typeface="Georgia"/>
              </a:rPr>
              <a:t>Due diligence &amp; handover — the top-5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Data room requested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2–3 yrs financials · occupancy history · SOPs · contracts · asset condition · digital ownership (full checklist in the DD pack, pre-filled with audit findings).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Candidate operator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Fadjri D. Roesman, cSMH — GM-level, ex-Westin/Le Méridien/Mandarin Oriental; his 6 revenue strategies map onto the audit's verified leaks.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72029"/>
                </a:solidFill>
                <a:latin typeface="Calibri"/>
              </a:rPr>
              <a:t>• Target outputs</a:t>
            </a:r>
            <a:r>
              <a:rPr sz="1350" b="0">
                <a:solidFill>
                  <a:srgbClr val="5C6A74"/>
                </a:solidFill>
                <a:latin typeface="Calibri"/>
              </a:rPr>
              <a:t> — business plan &amp; 2026 revenue target · post-takeover ROI estimate.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783080"/>
          <a:ext cx="47548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90"/>
                <a:gridCol w="4374489"/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Handover risk</a:t>
                      </a:r>
                    </a:p>
                  </a:txBody>
                  <a:tcPr marL="54864" marR="54864" marT="27432" marB="27432">
                    <a:solidFill>
                      <a:srgbClr val="0F6B7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OTA listing &amp; review-history transferability (Airbnb account ownership) — negotiate BEFORE termination notice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Termination + non-compete in the Balinest management agreement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Staff continuity — who employs the praised villa team (keeps Staff 9.5)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Guest database export from Guesty</a:t>
                      </a:r>
                    </a:p>
                  </a:txBody>
                  <a:tcPr marL="54864" marR="54864" marT="27432" marB="27432">
                    <a:solidFill>
                      <a:srgbClr val="FAF7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029"/>
                          </a:solidFill>
                          <a:latin typeface="Calibri"/>
                        </a:rPr>
                        <a:t>Forward bookings &amp; deposits held for post-handover stays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9B7C2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Georgia"/>
              </a:rPr>
              <a:t>Three moves this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FFFF"/>
                </a:solidFill>
              </a:rPr>
              <a:t>1 · Open the data room  </a:t>
            </a:r>
            <a:r>
              <a:rPr sz="1400">
                <a:solidFill>
                  <a:srgbClr val="B9C4C2"/>
                </a:solidFill>
              </a:rPr>
              <a:t>Guesty report + management agreement + per-unit mandate list — turns every 'estimate' in this deck into a number.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FFFF"/>
                </a:solidFill>
              </a:rPr>
              <a:t>2 · Sign the operator &amp; brand terms  </a:t>
            </a:r>
            <a:r>
              <a:rPr sz="1400">
                <a:solidFill>
                  <a:srgbClr val="B9C4C2"/>
                </a:solidFill>
              </a:rPr>
              <a:t>naming rights, staff continuity, listing-ownership clauses — before any termination notice to the incumbent.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FFFF"/>
                </a:solidFill>
              </a:rPr>
              <a:t>3 · Start the self-funding fixes  </a:t>
            </a:r>
            <a:r>
              <a:rPr sz="1400">
                <a:solidFill>
                  <a:srgbClr val="B9C4C2"/>
                </a:solidFill>
              </a:rPr>
              <a:t>disclosure copy, renaming in place, parity cleanup, free-cancellation rate, photography — ≈ zero cost, effective in weeks, no dependency on the takeover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A74"/>
                </a:solidFill>
                <a:latin typeface="Calibri"/>
              </a:rPr>
              <a:t>Selena Systems · Bali · independent analysis — public data only, estimates labelled, adversarially reviewed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